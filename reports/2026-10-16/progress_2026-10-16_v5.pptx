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05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1"/>
  </p:normalViewPr>
  <p:slideViewPr>
    <p:cSldViewPr snapToGrid="0">
      <p:cViewPr varScale="1">
        <p:scale>
          <a:sx n="122" d="100"/>
          <a:sy n="122" d="100"/>
        </p:scale>
        <p:origin x="22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3738A0-DC91-5340-A387-4EEA4F0D9370}" type="datetimeFigureOut">
              <a:rPr kumimoji="1" lang="zh-CN" altLang="en-US" smtClean="0"/>
              <a:t>2026/10/15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FEE63-CB47-2041-89F3-4347133266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9661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52375-2F54-7159-8F45-9C003D775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CEE7F7-7387-8C29-7EB3-2A009319D0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0DE786-7CDC-D958-326B-6A9A993CE6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48D12-4BB8-BE98-CE9F-8D006A7032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14987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685A2B-1F8C-4E3B-EC06-611F137DC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CA35725-46EB-2247-BF42-95E87E679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695CC4-A15B-6FFC-C454-742612BC0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E8A5-BED9-DD45-A32E-47531D2B0150}" type="datetimeFigureOut">
              <a:rPr kumimoji="1" lang="zh-CN" altLang="en-US" smtClean="0"/>
              <a:t>2026/10/15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E02661-80D6-CBFD-4304-ECFBE5659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BA61DB-F181-5F07-4536-DD7F59AAF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32B1-640A-B943-BEB2-8FAA56A070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9966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5A4268-6B37-B8DE-9C51-FF684CDF9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B332E8-EDED-C41C-5711-F8908285D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9A898C-6DE4-D7E3-9983-58C859D76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E8A5-BED9-DD45-A32E-47531D2B0150}" type="datetimeFigureOut">
              <a:rPr kumimoji="1" lang="zh-CN" altLang="en-US" smtClean="0"/>
              <a:t>2026/10/15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882370-F980-3F80-6E3D-273982968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85A238-028B-5818-D856-1B381FE5C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32B1-640A-B943-BEB2-8FAA56A070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5111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1AE705-99AD-B68A-737D-5BA493840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9607AA-A9AA-7730-2523-AFB306195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918FBD-4449-09D1-10A7-EB7F216BD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E8A5-BED9-DD45-A32E-47531D2B0150}" type="datetimeFigureOut">
              <a:rPr kumimoji="1" lang="zh-CN" altLang="en-US" smtClean="0"/>
              <a:t>2026/10/15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B0B2D5-14F4-736D-4F28-DBCC233D5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4613F6-A80C-9D6A-230A-C75E4442C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32B1-640A-B943-BEB2-8FAA56A070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686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E4FBCB-5CBC-AD82-7E46-0B6FE79BD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4E1BDD-4DCC-63F3-9E31-098A6E6721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1EE296-0D35-98FD-B270-BDBB47D6F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93EB03-87C0-63B5-145F-327217D80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E8A5-BED9-DD45-A32E-47531D2B0150}" type="datetimeFigureOut">
              <a:rPr kumimoji="1" lang="zh-CN" altLang="en-US" smtClean="0"/>
              <a:t>2026/10/15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362E66-5266-D5AF-472A-588140B44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DA4D64-9B7A-0C0E-918E-31BFEE0D8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32B1-640A-B943-BEB2-8FAA56A070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4928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4CE928-7A82-9273-2EE7-9BC9947A2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35CDB6-23A1-8B05-C6DB-4DD5D5D7C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DADD66-78BD-3821-56F2-C68A751E57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42FAFAF-D54E-3E10-2D2C-3E8FF543E8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B553D4A-E848-3889-99CE-48C2703DE9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D5EC9DF-9580-2B33-B080-11F79717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E8A5-BED9-DD45-A32E-47531D2B0150}" type="datetimeFigureOut">
              <a:rPr kumimoji="1" lang="zh-CN" altLang="en-US" smtClean="0"/>
              <a:t>2026/10/15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4B61301-C27C-8190-48C8-AD616274E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682FB1F-E564-B232-E57E-D5CAE08B6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32B1-640A-B943-BEB2-8FAA56A070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1009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BC812D-2FE1-210A-5094-EA19D666A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EB6179-FC4F-31FD-9CD2-D5B810DDE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E8A5-BED9-DD45-A32E-47531D2B0150}" type="datetimeFigureOut">
              <a:rPr kumimoji="1" lang="zh-CN" altLang="en-US" smtClean="0"/>
              <a:t>2026/10/15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66747DE-DF8B-110B-11C6-E1B22F0B1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9863CD0-CD44-5246-E260-3251E5F26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32B1-640A-B943-BEB2-8FAA56A070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1598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4AC99E1-5473-AF83-097B-72FBA8A77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E8A5-BED9-DD45-A32E-47531D2B0150}" type="datetimeFigureOut">
              <a:rPr kumimoji="1" lang="zh-CN" altLang="en-US" smtClean="0"/>
              <a:t>2026/10/15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F880154-C603-6333-7556-DCE362A40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254108-B697-AE40-B12C-26EA2D672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32B1-640A-B943-BEB2-8FAA56A070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8974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195484-5F01-068C-8AD0-0AC8A64FA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D0BC87-38AF-5C68-D2AD-72F41FEA3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FCDB7B-2A46-489A-8BF0-C01C55290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1350EC-1FC5-A596-BD78-170677B82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E8A5-BED9-DD45-A32E-47531D2B0150}" type="datetimeFigureOut">
              <a:rPr kumimoji="1" lang="zh-CN" altLang="en-US" smtClean="0"/>
              <a:t>2026/10/15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729889-FE74-7865-C772-6444BE48A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BC6129-4243-5A78-68E1-37EA1CF18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32B1-640A-B943-BEB2-8FAA56A070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54051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E820FB-40D9-801B-FBA7-679732575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7C506D-9F0B-72ED-8CE9-6AFE96707D9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927727D-4AA9-7EEE-BBA8-C914305D0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15BE52-3D2E-B10E-ABC5-95A4C7426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E8A5-BED9-DD45-A32E-47531D2B0150}" type="datetimeFigureOut">
              <a:rPr kumimoji="1" lang="zh-CN" altLang="en-US" smtClean="0"/>
              <a:t>2026/10/15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9D25BF-DFFB-FEE4-2028-77679BC29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D65788-DC7F-0086-E0A0-F7520B7CB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32B1-640A-B943-BEB2-8FAA56A070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09459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2BA07F-C7EE-8A84-AFAE-7018F40C9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401CFE-4C66-2701-1699-8AF95C671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319AF0-059A-3891-9A85-E62680787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E8A5-BED9-DD45-A32E-47531D2B0150}" type="datetimeFigureOut">
              <a:rPr kumimoji="1" lang="zh-CN" altLang="en-US" smtClean="0"/>
              <a:t>2026/10/15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DEABB6-262E-1ED3-D05C-73E3C1B7E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DAC97E-9DD2-0C94-BA61-71E2761F6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32B1-640A-B943-BEB2-8FAA56A070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15471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B8064C0-9AE8-C528-731D-35B0A19701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D57572-20F5-7013-69B3-F7B93B1CC9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012FDA-415E-8209-A2B2-C421A0D7B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E8A5-BED9-DD45-A32E-47531D2B0150}" type="datetimeFigureOut">
              <a:rPr kumimoji="1" lang="zh-CN" altLang="en-US" smtClean="0"/>
              <a:t>2026/10/15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4667C2-ABC5-47AF-BC75-D1F030581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4419BB-5EE8-D90B-FEAF-9F377D8D3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32B1-640A-B943-BEB2-8FAA56A070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8060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389B5DD-CF20-DCBB-7A8A-1FF23DE855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010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4E68CB7-37AB-C177-4BFF-F41592714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4D6492-47C2-8E8C-8FC4-094043FE2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1A51FC-0831-5FA3-E01F-10ACCC06A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E5E8A5-BED9-DD45-A32E-47531D2B0150}" type="datetimeFigureOut">
              <a:rPr kumimoji="1" lang="zh-CN" altLang="en-US" smtClean="0"/>
              <a:t>2026/10/15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FC9700-473B-74EA-E202-748BA1504D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2144BA-51B4-380A-F076-83CA6A380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0432B1-640A-B943-BEB2-8FAA56A070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3692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oc.weixin.qq.com/doc/w3_AQUAmga9AP8CNpuMl3TDGQx6wc413?scode=AJEAIQdfAAoAwsuwOT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71D99-3D55-4AB0-E06F-FDD10BD90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">
            <a:extLst>
              <a:ext uri="{FF2B5EF4-FFF2-40B4-BE49-F238E27FC236}">
                <a16:creationId xmlns:a16="http://schemas.microsoft.com/office/drawing/2014/main" id="{A76A2618-A017-7D23-2D88-9CF5A4A08B97}"/>
              </a:ext>
            </a:extLst>
          </p:cNvPr>
          <p:cNvSpPr/>
          <p:nvPr/>
        </p:nvSpPr>
        <p:spPr>
          <a:xfrm>
            <a:off x="522" y="512453"/>
            <a:ext cx="63500" cy="361951"/>
          </a:xfrm>
          <a:prstGeom prst="rect">
            <a:avLst/>
          </a:prstGeom>
          <a:solidFill>
            <a:srgbClr val="A4F7E3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50" name="标题 1">
            <a:extLst>
              <a:ext uri="{FF2B5EF4-FFF2-40B4-BE49-F238E27FC236}">
                <a16:creationId xmlns:a16="http://schemas.microsoft.com/office/drawing/2014/main" id="{8314BCDF-66C7-FCCF-78CB-72FE46A63434}"/>
              </a:ext>
            </a:extLst>
          </p:cNvPr>
          <p:cNvSpPr txBox="1"/>
          <p:nvPr/>
        </p:nvSpPr>
        <p:spPr>
          <a:xfrm>
            <a:off x="246886" y="444804"/>
            <a:ext cx="9182292" cy="58753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1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6000">
                <a:solidFill>
                  <a:schemeClr val="tx1">
                    <a:alpha val="100000"/>
                  </a:schemeClr>
                </a:solidFill>
                <a:latin typeface="微软雅黑"/>
                <a:ea typeface="微软雅黑"/>
                <a:cs typeface="+mj-cs"/>
              </a:defRPr>
            </a:pP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</a:rPr>
              <a:t>本周期项目进展陈述：基模泛化性研究</a:t>
            </a:r>
            <a:endParaRPr lang="en-US" altLang="zh-CN" sz="2133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38AE193-9BA8-B5E4-34EE-C8F164D29449}"/>
              </a:ext>
            </a:extLst>
          </p:cNvPr>
          <p:cNvSpPr txBox="1"/>
          <p:nvPr/>
        </p:nvSpPr>
        <p:spPr>
          <a:xfrm>
            <a:off x="64022" y="1020019"/>
            <a:ext cx="9581285" cy="5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lang="zh-CN" altLang="en-US" sz="800" dirty="0">
                <a:solidFill>
                  <a:schemeClr val="accent2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面向未知控制参数的低成本在线辨识与策略适应研究。先聚焦键位映射、鼠标增益等控制参数，再扩展至其余跨游戏泛化。以 OpenP2P 150M 为基模，开展 20 Hz 闭环与快速实验。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endParaRPr lang="zh-CN" altLang="en-US" sz="800" dirty="0">
              <a:solidFill>
                <a:schemeClr val="accent2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8000"/>
              </a:lnSpc>
              <a:spcAft>
                <a:spcPts val="400"/>
              </a:spcAft>
            </a:pPr>
            <a:endParaRPr lang="zh-CN" altLang="en-US" sz="800" dirty="0">
              <a:solidFill>
                <a:schemeClr val="accent2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TextBox 22">
            <a:extLst>
              <a:ext uri="{FF2B5EF4-FFF2-40B4-BE49-F238E27FC236}">
                <a16:creationId xmlns:a16="http://schemas.microsoft.com/office/drawing/2014/main" id="{F5C4363E-61C4-2108-8266-550EFA2B1A7F}"/>
              </a:ext>
            </a:extLst>
          </p:cNvPr>
          <p:cNvSpPr txBox="1"/>
          <p:nvPr/>
        </p:nvSpPr>
        <p:spPr>
          <a:xfrm>
            <a:off x="1292099" y="2584470"/>
            <a:ext cx="5745181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1400" b="1" dirty="0">
                <a:latin typeface="微软雅黑"/>
                <a:ea typeface="微软雅黑"/>
                <a:cs typeface="微软雅黑"/>
              </a:rPr>
              <a:t>离线实验数据   </a:t>
            </a:r>
            <a:r>
              <a:rPr sz="900" dirty="0" err="1">
                <a:latin typeface="微软雅黑"/>
                <a:ea typeface="微软雅黑"/>
                <a:cs typeface="微软雅黑"/>
              </a:rPr>
              <a:t>官方</a:t>
            </a:r>
            <a:r>
              <a:rPr sz="900" dirty="0">
                <a:latin typeface="微软雅黑"/>
                <a:ea typeface="微软雅黑"/>
                <a:cs typeface="微软雅黑"/>
              </a:rPr>
              <a:t> 150M </a:t>
            </a:r>
            <a:r>
              <a:rPr sz="900" dirty="0" err="1">
                <a:latin typeface="微软雅黑"/>
                <a:ea typeface="微软雅黑"/>
                <a:cs typeface="微软雅黑"/>
              </a:rPr>
              <a:t>起步，CS:GO</a:t>
            </a:r>
            <a:r>
              <a:rPr sz="900" dirty="0">
                <a:latin typeface="微软雅黑"/>
                <a:ea typeface="微软雅黑"/>
                <a:cs typeface="微软雅黑"/>
              </a:rPr>
              <a:t> 微调；3 seed </a:t>
            </a:r>
            <a:r>
              <a:rPr sz="900" dirty="0" err="1">
                <a:latin typeface="微软雅黑"/>
                <a:ea typeface="微软雅黑"/>
                <a:cs typeface="微软雅黑"/>
              </a:rPr>
              <a:t>均值</a:t>
            </a:r>
            <a:endParaRPr sz="1267" dirty="0"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49" name="Table 23">
            <a:extLst>
              <a:ext uri="{FF2B5EF4-FFF2-40B4-BE49-F238E27FC236}">
                <a16:creationId xmlns:a16="http://schemas.microsoft.com/office/drawing/2014/main" id="{364A6DC2-E752-7045-3461-5BE9814C415E}"/>
              </a:ext>
            </a:extLst>
          </p:cNvPr>
          <p:cNvGraphicFramePr>
            <a:graphicFrameLocks noGrp="1"/>
          </p:cNvGraphicFramePr>
          <p:nvPr/>
        </p:nvGraphicFramePr>
        <p:xfrm>
          <a:off x="119333" y="2851379"/>
          <a:ext cx="5804714" cy="1444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6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2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19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20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2668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训练方式</a:t>
                      </a:r>
                      <a:endParaRPr sz="1100" b="1" dirty="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60960" marR="60960" marT="12192" marB="12192" anchor="ctr"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灵敏度gap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↓
k=0.5/1/2</a:t>
                      </a:r>
                    </a:p>
                  </a:txBody>
                  <a:tcPr marL="60960" marR="60960" marT="12192" marB="12192" anchor="ctr"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CS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无历史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
开火F1↑</a:t>
                      </a:r>
                    </a:p>
                  </a:txBody>
                  <a:tcPr marL="60960" marR="60960" marT="12192" marB="12192" anchor="ctr"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5款未见游戏
有历史NLL↓</a:t>
                      </a:r>
                    </a:p>
                  </a:txBody>
                  <a:tcPr marL="60960" marR="60960" marT="12192" marB="12192" anchor="ctr"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5款未见游戏
无历史NLL↓</a:t>
                      </a:r>
                    </a:p>
                  </a:txBody>
                  <a:tcPr marL="60960" marR="60960" marT="12192" marB="12192" anchor="ctr">
                    <a:solidFill>
                      <a:srgbClr val="2E86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824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141F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无增强</a:t>
                      </a:r>
                      <a:endParaRPr sz="1100" b="1" dirty="0">
                        <a:solidFill>
                          <a:srgbClr val="141F3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C6282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0.39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6282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0.01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F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1.723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F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2.871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824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141F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鼠标缩放增强（Game-TARS</a:t>
                      </a:r>
                      <a:r>
                        <a:rPr sz="1100" b="1" dirty="0">
                          <a:solidFill>
                            <a:srgbClr val="141F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）</a:t>
                      </a:r>
                    </a:p>
                  </a:txBody>
                  <a:tcPr marL="60960" marR="60960" marT="12192" marB="1219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8E4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0.10</a:t>
                      </a:r>
                    </a:p>
                  </a:txBody>
                  <a:tcPr marL="60960" marR="60960" marT="12192" marB="1219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6282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0.02</a:t>
                      </a:r>
                    </a:p>
                  </a:txBody>
                  <a:tcPr marL="60960" marR="60960" marT="12192" marB="1219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8E4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1.325</a:t>
                      </a:r>
                    </a:p>
                  </a:txBody>
                  <a:tcPr marL="60960" marR="60960" marT="12192" marB="1219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6282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3.185</a:t>
                      </a:r>
                    </a:p>
                  </a:txBody>
                  <a:tcPr marL="60960" marR="60960" marT="12192" marB="12192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824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141F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历史腐蚀</a:t>
                      </a:r>
                      <a:r>
                        <a:rPr sz="1100" b="1" dirty="0">
                          <a:solidFill>
                            <a:srgbClr val="141F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+ </a:t>
                      </a:r>
                      <a:r>
                        <a:rPr sz="1100" b="1" dirty="0" err="1">
                          <a:solidFill>
                            <a:srgbClr val="141F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缩放增强</a:t>
                      </a:r>
                      <a:endParaRPr sz="1100" b="1" dirty="0">
                        <a:solidFill>
                          <a:srgbClr val="141F3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E8E4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0.09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E8E4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0.29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F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1.340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E8E4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2.327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1" name="TextBox 24">
            <a:extLst>
              <a:ext uri="{FF2B5EF4-FFF2-40B4-BE49-F238E27FC236}">
                <a16:creationId xmlns:a16="http://schemas.microsoft.com/office/drawing/2014/main" id="{5D5B5C43-AC59-B141-A90F-79C06FB19E63}"/>
              </a:ext>
            </a:extLst>
          </p:cNvPr>
          <p:cNvSpPr txBox="1"/>
          <p:nvPr/>
        </p:nvSpPr>
        <p:spPr>
          <a:xfrm>
            <a:off x="246886" y="4452117"/>
            <a:ext cx="5745181" cy="798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200" b="1" dirty="0">
                <a:solidFill>
                  <a:srgbClr val="FFD27A"/>
                </a:solidFill>
                <a:latin typeface="微软雅黑"/>
                <a:ea typeface="微软雅黑"/>
                <a:cs typeface="微软雅黑"/>
              </a:rPr>
              <a:t>初步结论： 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鼠标缩放增强改善了控制尺度变化下的动作预测，但在历史信息退化时，单独使用增强的泛化表现仍有限。加入历史腐蚀训练后，无历史条件下的 </a:t>
            </a:r>
            <a:r>
              <a:rPr lang="en" altLang="zh-CN" sz="1200" b="1" dirty="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NLL 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降低约 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27%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，有历史条件下仅上升约 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1.1%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。这提示模型可能过度依赖历史信息，但仍需进一步实验验证；以上结果仅反映离线动作预测，不代表在线游戏性能。</a:t>
            </a:r>
          </a:p>
        </p:txBody>
      </p:sp>
      <p:sp>
        <p:nvSpPr>
          <p:cNvPr id="67" name="TextBox 39">
            <a:extLst>
              <a:ext uri="{FF2B5EF4-FFF2-40B4-BE49-F238E27FC236}">
                <a16:creationId xmlns:a16="http://schemas.microsoft.com/office/drawing/2014/main" id="{CD520507-0B6F-36D5-A90C-F432C23C55FC}"/>
              </a:ext>
            </a:extLst>
          </p:cNvPr>
          <p:cNvSpPr txBox="1"/>
          <p:nvPr/>
        </p:nvSpPr>
        <p:spPr>
          <a:xfrm>
            <a:off x="6485707" y="3383203"/>
            <a:ext cx="5667557" cy="638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267"/>
              </a:spcAft>
            </a:pPr>
            <a:r>
              <a:rPr sz="1267" b="1" dirty="0" err="1">
                <a:latin typeface="微软雅黑"/>
                <a:ea typeface="微软雅黑"/>
                <a:cs typeface="微软雅黑"/>
              </a:rPr>
              <a:t>对照：</a:t>
            </a:r>
            <a:r>
              <a:rPr sz="1100" dirty="0" err="1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无适应（固定策略</a:t>
            </a:r>
            <a:r>
              <a:rPr sz="110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）/ </a:t>
            </a:r>
            <a:r>
              <a:rPr sz="1100" dirty="0" err="1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缩放增强</a:t>
            </a:r>
            <a:r>
              <a:rPr sz="110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sz="1100" dirty="0" err="1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历史隐式适应（Game-TARS</a:t>
            </a:r>
            <a:r>
              <a:rPr sz="110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100" dirty="0" err="1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式</a:t>
            </a:r>
            <a:r>
              <a:rPr sz="110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）/ </a:t>
            </a:r>
            <a:r>
              <a:rPr sz="1100" dirty="0" err="1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固定探测</a:t>
            </a:r>
            <a:r>
              <a:rPr sz="110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sz="1100" dirty="0" err="1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不确定性驱动探测</a:t>
            </a:r>
            <a:endParaRPr sz="1267" dirty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0000"/>
              </a:lnSpc>
              <a:spcAft>
                <a:spcPts val="267"/>
              </a:spcAft>
            </a:pPr>
            <a:r>
              <a:rPr sz="1267" b="1" dirty="0" err="1">
                <a:latin typeface="微软雅黑"/>
                <a:ea typeface="微软雅黑"/>
                <a:cs typeface="微软雅黑"/>
              </a:rPr>
              <a:t>指标：</a:t>
            </a:r>
            <a:r>
              <a:rPr sz="1100" dirty="0" err="1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任务成功率、目标角度误差、转向过冲、适应所需交互步数、估计误差 → 闭环恢复收益</a:t>
            </a:r>
            <a:endParaRPr sz="1100" dirty="0">
              <a:solidFill>
                <a:schemeClr val="tx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TextBox 41">
            <a:extLst>
              <a:ext uri="{FF2B5EF4-FFF2-40B4-BE49-F238E27FC236}">
                <a16:creationId xmlns:a16="http://schemas.microsoft.com/office/drawing/2014/main" id="{17AEB958-DFA3-C591-5FAB-3F1B081DECCD}"/>
              </a:ext>
            </a:extLst>
          </p:cNvPr>
          <p:cNvSpPr txBox="1"/>
          <p:nvPr/>
        </p:nvSpPr>
        <p:spPr>
          <a:xfrm>
            <a:off x="6400363" y="4097823"/>
            <a:ext cx="5746963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67" b="1" dirty="0">
                <a:latin typeface="微软雅黑"/>
                <a:ea typeface="微软雅黑"/>
                <a:cs typeface="微软雅黑"/>
              </a:rPr>
              <a:t>④ </a:t>
            </a:r>
            <a:r>
              <a:rPr sz="1667" b="1" dirty="0" err="1">
                <a:latin typeface="微软雅黑"/>
                <a:ea typeface="微软雅黑"/>
                <a:cs typeface="微软雅黑"/>
              </a:rPr>
              <a:t>当前验证状态</a:t>
            </a:r>
            <a:endParaRPr sz="1267" dirty="0"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69" name="Table 42">
            <a:extLst>
              <a:ext uri="{FF2B5EF4-FFF2-40B4-BE49-F238E27FC236}">
                <a16:creationId xmlns:a16="http://schemas.microsoft.com/office/drawing/2014/main" id="{2711B973-EAE4-F087-671E-FE6C964A5EEC}"/>
              </a:ext>
            </a:extLst>
          </p:cNvPr>
          <p:cNvGraphicFramePr>
            <a:graphicFrameLocks noGrp="1"/>
          </p:cNvGraphicFramePr>
          <p:nvPr/>
        </p:nvGraphicFramePr>
        <p:xfrm>
          <a:off x="6340807" y="4452117"/>
          <a:ext cx="5806440" cy="19110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800" b="1"/>
                        <a:t>假设</a:t>
                      </a:r>
                    </a:p>
                  </a:txBody>
                  <a:tcPr marL="60960" marR="60960" marT="12192" marB="12192" anchor="ctr"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800" b="1"/>
                        <a:t>证据与结论</a:t>
                      </a:r>
                    </a:p>
                  </a:txBody>
                  <a:tcPr marL="60960" marR="60960" marT="12192" marB="12192" anchor="ctr"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800" b="1"/>
                        <a:t>状态</a:t>
                      </a:r>
                    </a:p>
                  </a:txBody>
                  <a:tcPr marL="60960" marR="60960" marT="12192" marB="12192" anchor="ctr">
                    <a:solidFill>
                      <a:srgbClr val="2E86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3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800" b="0"/>
                        <a:t>固定策略对增益变化存在非对称退化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800" b="0"/>
                        <a:t>闭环成功率随增益呈倒 U 形；0.25× 与 8× 显著退化（Holm 校正后仍显著）；4× 名义显著但未通过校正；0.5×、2× 未见显著差异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800" b="0"/>
                        <a:t>已验证主要趋势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3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800" b="0"/>
                        <a:t>参数已知时，动作校正能否恢复性能</a:t>
                      </a:r>
                    </a:p>
                  </a:txBody>
                  <a:tcPr marL="60960" marR="60960" marT="12192" marB="1219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800" b="0"/>
                        <a:t>Oracle 真值代入（0.25/0.5/2/4×）：成功率约 0.52，接近原生 1.0× 的 0.48；属参数已知的上界，非在线适应</a:t>
                      </a:r>
                    </a:p>
                  </a:txBody>
                  <a:tcPr marL="60960" marR="60960" marT="12192" marB="1219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800" b="0"/>
                        <a:t>上界已验证</a:t>
                      </a:r>
                    </a:p>
                  </a:txBody>
                  <a:tcPr marL="60960" marR="60960" marT="12192" marB="12192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3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800" b="0"/>
                        <a:t>估计误差容忍度（误差 → 收益）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800" b="0"/>
                        <a:t>注入 ±5%~300% 估计误差：|e|≤50% 时成功率维持 0.42–0.52，无显著损失；超出才崩塌。⇒ 估计器门槛：|e|≤30%（稳妥）~50%（最低）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800" b="0"/>
                        <a:t>门槛已量化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3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800" b="0"/>
                        <a:t>从视觉反馈在线估计增益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800" b="0"/>
                        <a:t>真值回放：0.5×/1× 分别高估约 22%/29%；段内离散约 1.7–2.5×，尚不足以支持可靠的在线校正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800" b="0"/>
                        <a:t>未通过，需重做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3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800" b="0"/>
                        <a:t>不确定性驱动探测是否优于固定探测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800" b="0"/>
                        <a:t>尚未开展对照实验；待估计器达到可用精度后，比较固定探测、随机探测与不确定性驱动探测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800" b="0"/>
                        <a:t>未开始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1" name="文本框 70">
            <a:extLst>
              <a:ext uri="{FF2B5EF4-FFF2-40B4-BE49-F238E27FC236}">
                <a16:creationId xmlns:a16="http://schemas.microsoft.com/office/drawing/2014/main" id="{6EDE7DBB-1750-D2B1-B7F3-76414E6BF2C7}"/>
              </a:ext>
            </a:extLst>
          </p:cNvPr>
          <p:cNvSpPr txBox="1"/>
          <p:nvPr/>
        </p:nvSpPr>
        <p:spPr>
          <a:xfrm>
            <a:off x="2182621" y="5418786"/>
            <a:ext cx="6096000" cy="707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333" b="1" dirty="0">
                <a:solidFill>
                  <a:srgbClr val="FFD27A"/>
                </a:solidFill>
                <a:latin typeface="微软雅黑"/>
                <a:ea typeface="微软雅黑"/>
                <a:cs typeface="微软雅黑"/>
              </a:rPr>
              <a:t>▶ 持续更新的 </a:t>
            </a:r>
            <a:r>
              <a:rPr lang="en" altLang="zh-CN" sz="1333" b="1" dirty="0">
                <a:solidFill>
                  <a:srgbClr val="FFD27A"/>
                </a:solidFill>
                <a:latin typeface="微软雅黑"/>
                <a:ea typeface="微软雅黑"/>
                <a:cs typeface="微软雅黑"/>
              </a:rPr>
              <a:t>Demo </a:t>
            </a:r>
            <a:r>
              <a:rPr lang="zh-CN" altLang="en-US" sz="1333" b="1" dirty="0">
                <a:solidFill>
                  <a:srgbClr val="FFD27A"/>
                </a:solidFill>
                <a:latin typeface="微软雅黑"/>
                <a:ea typeface="微软雅黑"/>
                <a:cs typeface="微软雅黑"/>
              </a:rPr>
              <a:t>与结果：</a:t>
            </a:r>
            <a:endParaRPr lang="en-US" altLang="zh-CN" sz="1333" b="1" dirty="0">
              <a:solidFill>
                <a:srgbClr val="FFD27A"/>
              </a:solidFill>
              <a:latin typeface="微软雅黑"/>
              <a:ea typeface="微软雅黑"/>
              <a:cs typeface="微软雅黑"/>
            </a:endParaRPr>
          </a:p>
          <a:p>
            <a:pPr algn="l"/>
            <a:r>
              <a:rPr lang="en" altLang="zh-CN" sz="1333" dirty="0">
                <a:latin typeface="微软雅黑"/>
                <a:ea typeface="微软雅黑"/>
                <a:cs typeface="微软雅黑"/>
              </a:rPr>
              <a:t>Demo </a:t>
            </a:r>
            <a:r>
              <a:rPr lang="zh-CN" altLang="en-US" sz="1333" dirty="0">
                <a:latin typeface="微软雅黑"/>
                <a:ea typeface="微软雅黑"/>
                <a:cs typeface="微软雅黑"/>
              </a:rPr>
              <a:t>视频 </a:t>
            </a:r>
            <a:r>
              <a:rPr lang="en-US" altLang="zh-CN" sz="1333" dirty="0">
                <a:latin typeface="微软雅黑"/>
                <a:ea typeface="微软雅黑"/>
                <a:cs typeface="微软雅黑"/>
              </a:rPr>
              <a:t>· </a:t>
            </a:r>
            <a:r>
              <a:rPr lang="zh-CN" altLang="en-US" sz="1333" dirty="0">
                <a:latin typeface="微软雅黑"/>
                <a:ea typeface="微软雅黑"/>
                <a:cs typeface="微软雅黑"/>
              </a:rPr>
              <a:t>实验配置 </a:t>
            </a:r>
            <a:r>
              <a:rPr lang="en-US" altLang="zh-CN" sz="1333" dirty="0">
                <a:latin typeface="微软雅黑"/>
                <a:ea typeface="微软雅黑"/>
                <a:cs typeface="微软雅黑"/>
              </a:rPr>
              <a:t>· </a:t>
            </a:r>
            <a:r>
              <a:rPr lang="zh-CN" altLang="en-US" sz="1333" dirty="0">
                <a:latin typeface="微软雅黑"/>
                <a:ea typeface="微软雅黑"/>
                <a:cs typeface="微软雅黑"/>
              </a:rPr>
              <a:t>结果表 </a:t>
            </a:r>
            <a:r>
              <a:rPr lang="en-US" altLang="zh-CN" sz="1333" dirty="0">
                <a:latin typeface="微软雅黑"/>
                <a:ea typeface="微软雅黑"/>
                <a:cs typeface="微软雅黑"/>
              </a:rPr>
              <a:t>· </a:t>
            </a:r>
          </a:p>
          <a:p>
            <a:pPr algn="l"/>
            <a:r>
              <a:rPr lang="zh-CN" altLang="en-US" sz="1333" dirty="0">
                <a:latin typeface="微软雅黑"/>
                <a:ea typeface="微软雅黑"/>
                <a:cs typeface="微软雅黑"/>
              </a:rPr>
              <a:t>当前限制与下一步  </a:t>
            </a:r>
            <a:r>
              <a:rPr lang="zh-CN" altLang="en-US" sz="1333" b="1" dirty="0">
                <a:latin typeface="微软雅黑"/>
                <a:ea typeface="微软雅黑"/>
                <a:cs typeface="微软雅黑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企业微信文档（</a:t>
            </a:r>
            <a:r>
              <a:rPr lang="zh-CN" altLang="en-US" sz="1333" b="1" dirty="0">
                <a:latin typeface="微软雅黑"/>
                <a:ea typeface="微软雅黑"/>
                <a:cs typeface="微软雅黑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点击</a:t>
            </a:r>
            <a:r>
              <a:rPr lang="zh-CN" altLang="en-US" sz="1333" b="1" dirty="0">
                <a:latin typeface="微软雅黑"/>
                <a:ea typeface="微软雅黑"/>
                <a:cs typeface="微软雅黑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6A9FA0-CB9E-9608-EE72-FDF80EA39E04}"/>
              </a:ext>
            </a:extLst>
          </p:cNvPr>
          <p:cNvSpPr txBox="1"/>
          <p:nvPr/>
        </p:nvSpPr>
        <p:spPr>
          <a:xfrm>
            <a:off x="44674" y="1340924"/>
            <a:ext cx="6097904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跨游戏泛化挑战：</a:t>
            </a:r>
            <a:endParaRPr lang="en-US" altLang="zh-CN" sz="1400" b="1" dirty="0">
              <a:solidFill>
                <a:schemeClr val="tx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10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视觉（分辨率/窗口/FOV/HUD）· 动作控制（键位映射</a:t>
            </a:r>
            <a:r>
              <a:rPr lang="en-US" altLang="zh-CN" sz="110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10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鼠标增益/动作时长）· 环境时序（动力学/延迟/任务规则（</a:t>
            </a:r>
            <a:r>
              <a:rPr lang="en-US" altLang="zh-CN" sz="1100" dirty="0" err="1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MemVLA</a:t>
            </a:r>
            <a:r>
              <a:rPr lang="zh-CN" altLang="en-US" sz="110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）） </a:t>
            </a:r>
            <a:endParaRPr lang="en-US" altLang="zh-CN" sz="1100" dirty="0">
              <a:solidFill>
                <a:schemeClr val="tx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100" dirty="0">
              <a:solidFill>
                <a:schemeClr val="tx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b="1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当前实验切入点：未知键位映射与鼠标增益（灵敏度）的在线辨识与适应（研究目标）</a:t>
            </a:r>
            <a:endParaRPr lang="zh-CN" altLang="en-US" sz="1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CCCDEAF-6EC6-995C-8608-BB13A5CD5C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370" y="5418786"/>
            <a:ext cx="1833881" cy="609404"/>
          </a:xfrm>
          <a:prstGeom prst="rect">
            <a:avLst/>
          </a:prstGeom>
        </p:spPr>
      </p:pic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E22C1D26-EFE6-2A37-3E83-4FAE050D18C9}"/>
              </a:ext>
            </a:extLst>
          </p:cNvPr>
          <p:cNvCxnSpPr/>
          <p:nvPr/>
        </p:nvCxnSpPr>
        <p:spPr>
          <a:xfrm>
            <a:off x="55709" y="2456383"/>
            <a:ext cx="5860025" cy="0"/>
          </a:xfrm>
          <a:prstGeom prst="line">
            <a:avLst/>
          </a:prstGeom>
          <a:ln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8D833601-3606-A76A-754B-1A66B023D927}"/>
              </a:ext>
            </a:extLst>
          </p:cNvPr>
          <p:cNvCxnSpPr/>
          <p:nvPr/>
        </p:nvCxnSpPr>
        <p:spPr>
          <a:xfrm>
            <a:off x="82969" y="6275135"/>
            <a:ext cx="5860025" cy="0"/>
          </a:xfrm>
          <a:prstGeom prst="line">
            <a:avLst/>
          </a:prstGeom>
          <a:ln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04CE5764-94CF-DDA4-191E-2494B56F4601}"/>
              </a:ext>
            </a:extLst>
          </p:cNvPr>
          <p:cNvCxnSpPr>
            <a:cxnSpLocks/>
          </p:cNvCxnSpPr>
          <p:nvPr/>
        </p:nvCxnSpPr>
        <p:spPr>
          <a:xfrm>
            <a:off x="64022" y="2442315"/>
            <a:ext cx="0" cy="3903159"/>
          </a:xfrm>
          <a:prstGeom prst="line">
            <a:avLst/>
          </a:prstGeom>
          <a:ln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92795F82-B414-C9D7-65F1-A20C2303B7CF}"/>
              </a:ext>
            </a:extLst>
          </p:cNvPr>
          <p:cNvCxnSpPr>
            <a:cxnSpLocks/>
          </p:cNvCxnSpPr>
          <p:nvPr/>
        </p:nvCxnSpPr>
        <p:spPr>
          <a:xfrm>
            <a:off x="5966061" y="2439757"/>
            <a:ext cx="0" cy="3903159"/>
          </a:xfrm>
          <a:prstGeom prst="line">
            <a:avLst/>
          </a:prstGeom>
          <a:ln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>
            <a:extLst>
              <a:ext uri="{FF2B5EF4-FFF2-40B4-BE49-F238E27FC236}">
                <a16:creationId xmlns:a16="http://schemas.microsoft.com/office/drawing/2014/main" id="{FAD2ECD6-41FF-F2CD-1741-38B33695313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264"/>
          <a:stretch>
            <a:fillRect/>
          </a:stretch>
        </p:blipFill>
        <p:spPr>
          <a:xfrm>
            <a:off x="7231422" y="1271428"/>
            <a:ext cx="4025287" cy="2014179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3611880" y="6359652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</a:pPr>
            <a:r>
              <a:rPr sz="600"/>
              <a:t>口径：H1 / Oracle 为 ViZDoom 实时闭环（OpenP2P 150M 原生检查点，20 Hz），配对设计（同初始偏角×同随机种子），并以引擎实测转角校验动作一致性。严格成功率 = 最后 10 步（第 51–60 步）每步均满足 |err| ≤ atan(20/dist)（约 4.47°）。组间比较为双侧配对符号检验，并作 Holm 校正。误差扫描为注入可控相对误差 e 后的校正实验（每条件 48 局），已验证闭环行为只取决于 e、与真实增益无关。Oracle 为真实增益代入的上界验证，不代表在线估计或在线适应已实现。</a:t>
            </a:r>
          </a:p>
        </p:txBody>
      </p:sp>
    </p:spTree>
    <p:extLst>
      <p:ext uri="{BB962C8B-B14F-4D97-AF65-F5344CB8AC3E}">
        <p14:creationId xmlns:p14="http://schemas.microsoft.com/office/powerpoint/2010/main" val="4180027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Microsoft Macintosh PowerPoint</Application>
  <PresentationFormat>宽屏</PresentationFormat>
  <Paragraphs>47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T202607</dc:creator>
  <cp:lastModifiedBy>T202607</cp:lastModifiedBy>
  <cp:revision>1</cp:revision>
  <dcterms:created xsi:type="dcterms:W3CDTF">2026-10-14T21:45:56Z</dcterms:created>
  <dcterms:modified xsi:type="dcterms:W3CDTF">2026-10-14T21:46:13Z</dcterms:modified>
</cp:coreProperties>
</file>